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Bienvenida. Agentforce Grid es la nueva herramienta de Salesforce para crear workflows de IA en batch, con interfaz de spreadsheet. Winter '26.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Agentforce Grid no es solo una spreadsheet — es un workspace donde encadenás data del CRM + prompts + agentes + acciones. Todo en batch, todo nativo, todo respetando seguridad.</a:t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la estructura: Workbook contiene Worksheets. Cada fila es un registro (job). Las columnas son acciones secuenciales. 3 tipos: Data, Action, AI. El workflow va de izquierda a derecha, cada columna puede referenciar la anterior.</a:t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conditions son clave para control de costos. Billing Calculator = estimado antes de ejecutar. Seguridad nativa: mismos permisos que en Salesforce.</a:t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escenario es realista: 500 accounts sin enriquecer. Sin Grid = copy-paste manual. Con Grid = 5 columnas y 1 click. Mostrar el pipeline de columnas.</a:t>
            </a:r>
            <a:endParaRPr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Paso 1: Data Column. Podés usar el UI point-and-click para seleccionar objeto y campos, o escribir SOQL directo. Cada registro = una fila. Los campos quedan disponibles con @ para las columnas siguientes.</a:t>
            </a:r>
            <a:endParaRPr/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Paso 2: AI Column. Prompt inline que usa @ para referenciar datos de la fila. Grid corre el prompt en paralelo sobre cada fila. Resultado: un resumen por Account.</a:t>
            </a:r>
            <a:endParaRPr/>
          </a:p>
        </p:txBody>
      </p:sp>
      <p:sp>
        <p:nvSpPr>
          <p:cNvPr id="259" name="Google Shape;2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Paso 3: otra AI Column que usa el resumen generado en C2 como input. Esto es compounding — cada columna construye sobre la anterior. El output es una clasificación limpia: HIGH, MEDIUM, LOW.</a:t>
            </a:r>
            <a:endParaRPr/>
          </a:p>
        </p:txBody>
      </p:sp>
      <p:sp>
        <p:nvSpPr>
          <p:cNvPr id="279" name="Google Shape;2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C4 escribe de vuelta al CRM sin código. C5 genera emails solo para cuentas HIGH — run condition ahorra credits. Mostrar cómo configurar el run condition en el UI.</a:t>
            </a:r>
            <a:endParaRPr/>
          </a:p>
        </p:txBody>
      </p:sp>
      <p:sp>
        <p:nvSpPr>
          <p:cNvPr id="303" name="Google Shape;3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Casos de uso reales. Case categorization es el más popular según Avi Shah (PM de Grid). También transcript analysis para agentes Agentforce.</a:t>
            </a:r>
            <a:endParaRPr/>
          </a:p>
        </p:txBody>
      </p:sp>
      <p:sp>
        <p:nvSpPr>
          <p:cNvPr id="326" name="Google Shape;32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Agentforce Grid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La spreadsheet con IA de Salesforce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+ Prompts + Agentes + Acciones — en batch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Esteban Morales  |  Sr. Salesforce Architect  |  Vantegrate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498080" y="640080"/>
            <a:ext cx="1463040" cy="1463040"/>
          </a:xfrm>
          <a:prstGeom prst="ellipse">
            <a:avLst/>
          </a:prstGeom>
          <a:solidFill>
            <a:srgbClr val="F5A623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046720" y="3474720"/>
            <a:ext cx="822960" cy="822960"/>
          </a:xfrm>
          <a:prstGeom prst="ellipse">
            <a:avLst/>
          </a:prstGeom>
          <a:solidFill>
            <a:srgbClr val="1B146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31520" y="1188720"/>
            <a:ext cx="7680960" cy="594360"/>
          </a:xfrm>
          <a:prstGeom prst="roundRect">
            <a:avLst>
              <a:gd fmla="val 12308" name="adj"/>
            </a:avLst>
          </a:prstGeom>
          <a:solidFill>
            <a:srgbClr val="F3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801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1463040" y="1188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¿Qué es Agentforce Grid?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463040" y="14904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La spreadsheet reimaginada para 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132320" y="118872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31520" y="1874520"/>
            <a:ext cx="768096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9659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1463040" y="18745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Anatomía de un Grid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463040" y="21762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Workbooks, Worksheets, columnas Data vs Action vs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132320" y="187452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31520" y="2560320"/>
            <a:ext cx="7680960" cy="594360"/>
          </a:xfrm>
          <a:prstGeom prst="roundRect">
            <a:avLst>
              <a:gd fmla="val 12308" name="adj"/>
            </a:avLst>
          </a:prstGeom>
          <a:solidFill>
            <a:srgbClr val="F3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651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1463040" y="2560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Escenario práctico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463040" y="28620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Enriquecer y clasificar Accounts con IA en batch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132320" y="256032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31520" y="3246120"/>
            <a:ext cx="768096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3375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1463040" y="32461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Seguridad y costos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463040" y="354787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OLS/FLS, Billing Calculator, Flex Credits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132320" y="324612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31520" y="3931920"/>
            <a:ext cx="7680960" cy="594360"/>
          </a:xfrm>
          <a:prstGeom prst="roundRect">
            <a:avLst>
              <a:gd fmla="val 12308" name="adj"/>
            </a:avLst>
          </a:prstGeom>
          <a:solidFill>
            <a:srgbClr val="F3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40233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1463040" y="3931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Casos de uso + Q&amp;A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132320" y="393192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Agentforce Grid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Una interfaz tipo spreadsheet para encadenar datos del CRM, prompts de IA, agentes y acciones en workflows que se ejecutan en batch.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1737360"/>
            <a:ext cx="2560320" cy="1143000"/>
          </a:xfrm>
          <a:prstGeom prst="roundRect">
            <a:avLst>
              <a:gd fmla="val 6400" name="adj"/>
            </a:avLst>
          </a:prstGeom>
          <a:solidFill>
            <a:srgbClr val="F7F7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74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1097280" y="1828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Data nativa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85800" y="22860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Query de objetos CRM y Data Cloud DMOs sin exportar nada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383280" y="1737360"/>
            <a:ext cx="2560320" cy="1143000"/>
          </a:xfrm>
          <a:prstGeom prst="roundRect">
            <a:avLst>
              <a:gd fmla="val 6400" name="adj"/>
            </a:avLst>
          </a:prstGeom>
          <a:solidFill>
            <a:srgbClr val="F7F7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0440" y="1874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3931920" y="1828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IA integrada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520440" y="22860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Columnas de LLM, Prompt Templates, y agentes corriendo en cada fila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217920" y="1737360"/>
            <a:ext cx="2560320" cy="1143000"/>
          </a:xfrm>
          <a:prstGeom prst="roundRect">
            <a:avLst>
              <a:gd fmla="val 6400" name="adj"/>
            </a:avLst>
          </a:prstGeom>
          <a:solidFill>
            <a:srgbClr val="F7F7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5080" y="1874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6766560" y="1828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Batch execution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355080" y="22860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 prompt corre en paralelo sobre cientos de registros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" y="3063240"/>
            <a:ext cx="2560320" cy="1143000"/>
          </a:xfrm>
          <a:prstGeom prst="roundRect">
            <a:avLst>
              <a:gd fmla="val 6400" name="adj"/>
            </a:avLst>
          </a:prstGeom>
          <a:solidFill>
            <a:srgbClr val="F7F7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200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097280" y="31546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Compounding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85800" y="361188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Cada columna usa el output de la anterior — de dato a insight a acción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383280" y="3063240"/>
            <a:ext cx="2560320" cy="1143000"/>
          </a:xfrm>
          <a:prstGeom prst="roundRect">
            <a:avLst>
              <a:gd fmla="val 6400" name="adj"/>
            </a:avLst>
          </a:prstGeom>
          <a:solidFill>
            <a:srgbClr val="F7F7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20440" y="3200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3931920" y="31546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Visual debugging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520440" y="361188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Click en cualquier celda para ver el API response completo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217920" y="3063240"/>
            <a:ext cx="2560320" cy="1143000"/>
          </a:xfrm>
          <a:prstGeom prst="roundRect">
            <a:avLst>
              <a:gd fmla="val 6400" name="adj"/>
            </a:avLst>
          </a:prstGeom>
          <a:solidFill>
            <a:srgbClr val="F7F7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5080" y="3200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6766560" y="31546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Seguridad nativa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355080" y="361188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Respeta OLS y FLS del usuario que ejecuta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46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10972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731520" y="2651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es Agentforce Grid?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La primera spreadsheet AI-native dentro de Salesforce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Anatomía de un Grid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731520" y="10515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Estructura: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731520" y="1417320"/>
            <a:ext cx="2011680" cy="347472"/>
          </a:xfrm>
          <a:prstGeom prst="roundRect">
            <a:avLst>
              <a:gd fmla="val 39474" name="adj"/>
            </a:avLst>
          </a:prstGeom>
          <a:solidFill>
            <a:srgbClr val="1B14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731520" y="14173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Workbook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005840" y="1874520"/>
            <a:ext cx="1828800" cy="347472"/>
          </a:xfrm>
          <a:prstGeom prst="roundRect">
            <a:avLst>
              <a:gd fmla="val 39474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1005840" y="18745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Worksheet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280160" y="2331720"/>
            <a:ext cx="2743200" cy="347472"/>
          </a:xfrm>
          <a:prstGeom prst="roundRect">
            <a:avLst>
              <a:gd fmla="val 39474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1280160" y="233172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Filas = Jobs (registros)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554480" y="2788920"/>
            <a:ext cx="2286000" cy="347472"/>
          </a:xfrm>
          <a:prstGeom prst="roundRect">
            <a:avLst>
              <a:gd fmla="val 39474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554480" y="278892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Columnas = Acciones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572000" y="1051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Tipos de columna: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572000" y="1417320"/>
            <a:ext cx="4023360" cy="502920"/>
          </a:xfrm>
          <a:prstGeom prst="roundRect">
            <a:avLst>
              <a:gd fmla="val 14545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663440" y="1490472"/>
            <a:ext cx="73152" cy="347472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892040" y="1417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Data Column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892040" y="167335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Query objetos CRM o Data Cloud DMOs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0" y="2011680"/>
            <a:ext cx="4023360" cy="502920"/>
          </a:xfrm>
          <a:prstGeom prst="roundRect">
            <a:avLst>
              <a:gd fmla="val 14545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4663440" y="2084832"/>
            <a:ext cx="73152" cy="347472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892040" y="2011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Action Column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892040" y="226771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Fórmulas, Update Record, Invocable Actions, 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572000" y="2606040"/>
            <a:ext cx="4023360" cy="502920"/>
          </a:xfrm>
          <a:prstGeom prst="roundRect">
            <a:avLst>
              <a:gd fmla="val 14545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663440" y="2679192"/>
            <a:ext cx="73152" cy="347472"/>
          </a:xfrm>
          <a:prstGeom prst="roundRect">
            <a:avLst>
              <a:gd fmla="val 50000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4892040" y="2606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AI Column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892040" y="286207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LLM inline, Prompt Templates, Agentes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48640" y="3474720"/>
            <a:ext cx="8046720" cy="1188720"/>
          </a:xfrm>
          <a:prstGeom prst="roundRect">
            <a:avLst>
              <a:gd fmla="val 7692" name="adj"/>
            </a:avLst>
          </a:prstGeom>
          <a:solidFill>
            <a:srgbClr val="F7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El workflow procesa de izquierda a derecha: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731520" y="3977640"/>
            <a:ext cx="1371600" cy="594360"/>
          </a:xfrm>
          <a:prstGeom prst="roundRect">
            <a:avLst>
              <a:gd fmla="val 12308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31520" y="397764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(Query)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7"/>
          <p:cNvCxnSpPr/>
          <p:nvPr/>
        </p:nvCxnSpPr>
        <p:spPr>
          <a:xfrm>
            <a:off x="2103120" y="4270248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1B14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7"/>
          <p:cNvSpPr/>
          <p:nvPr/>
        </p:nvSpPr>
        <p:spPr>
          <a:xfrm>
            <a:off x="2377440" y="3977640"/>
            <a:ext cx="1371600" cy="594360"/>
          </a:xfrm>
          <a:prstGeom prst="roundRect">
            <a:avLst>
              <a:gd fmla="val 1230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377440" y="397764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(Summarize)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7"/>
          <p:cNvCxnSpPr/>
          <p:nvPr/>
        </p:nvCxnSpPr>
        <p:spPr>
          <a:xfrm>
            <a:off x="3749040" y="4270248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1B14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7"/>
          <p:cNvSpPr/>
          <p:nvPr/>
        </p:nvSpPr>
        <p:spPr>
          <a:xfrm>
            <a:off x="4023360" y="3977640"/>
            <a:ext cx="1371600" cy="594360"/>
          </a:xfrm>
          <a:prstGeom prst="roundRect">
            <a:avLst>
              <a:gd fmla="val 12308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023360" y="397764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(Classify)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7"/>
          <p:cNvCxnSpPr/>
          <p:nvPr/>
        </p:nvCxnSpPr>
        <p:spPr>
          <a:xfrm>
            <a:off x="5394960" y="4270248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1B14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7"/>
          <p:cNvSpPr/>
          <p:nvPr/>
        </p:nvSpPr>
        <p:spPr>
          <a:xfrm>
            <a:off x="5669280" y="3977640"/>
            <a:ext cx="1371600" cy="594360"/>
          </a:xfrm>
          <a:prstGeom prst="roundRect">
            <a:avLst>
              <a:gd fmla="val 12308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669280" y="397764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(Formula)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7"/>
          <p:cNvCxnSpPr/>
          <p:nvPr/>
        </p:nvCxnSpPr>
        <p:spPr>
          <a:xfrm>
            <a:off x="7040880" y="4270248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1B14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7"/>
          <p:cNvSpPr/>
          <p:nvPr/>
        </p:nvSpPr>
        <p:spPr>
          <a:xfrm>
            <a:off x="7315200" y="3977640"/>
            <a:ext cx="1371600" cy="594360"/>
          </a:xfrm>
          <a:prstGeom prst="roundRect">
            <a:avLst>
              <a:gd fmla="val 12308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315200" y="397764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(Update)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Run Conditions + Billing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48640" y="1097280"/>
            <a:ext cx="3840480" cy="2286000"/>
          </a:xfrm>
          <a:prstGeom prst="roundRect">
            <a:avLst>
              <a:gd fmla="val 4000" name="adj"/>
            </a:avLst>
          </a:prstGeom>
          <a:solidFill>
            <a:srgbClr val="F3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128016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Run Conditions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77240" y="16916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Cualquier columna puede correr condicionalmente usando Salesforce Expression Language.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77240" y="2286000"/>
            <a:ext cx="3383280" cy="457200"/>
          </a:xfrm>
          <a:prstGeom prst="roundRect">
            <a:avLst>
              <a:gd fmla="val 12000" name="adj"/>
            </a:avLst>
          </a:prstGeom>
          <a:solidFill>
            <a:srgbClr val="1E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914400" y="22860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AnnualRevenue &gt; 1000000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777240" y="288036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Los pasos de IA solo corren en filas que cumplen el criterio — ahorrás Flex Credits.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754880" y="1097280"/>
            <a:ext cx="3840480" cy="2286000"/>
          </a:xfrm>
          <a:prstGeom prst="roundRect">
            <a:avLst>
              <a:gd fmla="val 400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548640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Billing Calculator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983480" y="169164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Antes de ejecutar, el Billing Calculator te da un estimado en tiempo real del costo en Flex Credits por fila.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983480" y="23774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Solo las columnas AI y Agent consumen credits. Data columns, fórmulas, y Updates son gratis.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3480" y="29260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/>
          <p:nvPr/>
        </p:nvSpPr>
        <p:spPr>
          <a:xfrm>
            <a:off x="5303520" y="28803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Siempre revisá el estimado antes de correr sobre miles de filas.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48640" y="3657600"/>
            <a:ext cx="8046720" cy="1005840"/>
          </a:xfrm>
          <a:prstGeom prst="roundRect">
            <a:avLst>
              <a:gd fmla="val 9091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3794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128016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Seguridad: respeta OLS y FLS del running user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280160" y="41605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Si un usuario no tiene permiso para ver o editar un campo en tu org, tampoco puede accederlo ni actualizarlo en Agentforce Grid.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464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10972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/>
          <p:nvPr/>
        </p:nvSpPr>
        <p:spPr>
          <a:xfrm>
            <a:off x="731520" y="2651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 Práctico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Enriquecer y clasificar Accounts con IA en batch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El escenario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914400" y="1097280"/>
            <a:ext cx="7315200" cy="640080"/>
          </a:xfrm>
          <a:prstGeom prst="roundRect">
            <a:avLst>
              <a:gd fmla="val 14286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1097280" y="109728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"Tenemos 500 Accounts sin descripción ni clasificación. Necesitamos enriquecerlas con un resumen de IA y categorizarlas por potencial de negocio."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731520" y="20116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Sin Agentforce Grid: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731520" y="23774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Abrir cada Account → copiar datos → pegar en ChatGPT → copiar resultado → pegar en Salesforce → repetir 500 veces.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4754880" y="20116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Con Agentforce Grid: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4754880" y="23774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columnas, 1 click en Run, 500 registros procesados en paralelo. Resultados escritos de vuelta al CRM.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731520" y="32004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Nuestro workflow en 5 columnas: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48640" y="3611880"/>
            <a:ext cx="1554480" cy="1051560"/>
          </a:xfrm>
          <a:prstGeom prst="roundRect">
            <a:avLst>
              <a:gd fmla="val 6957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594360" y="365760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594360" y="3657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48640" y="402336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Accounts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0"/>
          <p:cNvCxnSpPr/>
          <p:nvPr/>
        </p:nvCxnSpPr>
        <p:spPr>
          <a:xfrm>
            <a:off x="2103120" y="413308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B14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0"/>
          <p:cNvSpPr/>
          <p:nvPr/>
        </p:nvSpPr>
        <p:spPr>
          <a:xfrm>
            <a:off x="2286000" y="3611880"/>
            <a:ext cx="1554480" cy="1051560"/>
          </a:xfrm>
          <a:prstGeom prst="roundRect">
            <a:avLst>
              <a:gd fmla="val 695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2331720" y="365760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2331720" y="3657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2286000" y="402336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Generar Resumen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0"/>
          <p:cNvCxnSpPr/>
          <p:nvPr/>
        </p:nvCxnSpPr>
        <p:spPr>
          <a:xfrm>
            <a:off x="3840480" y="413308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B14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0"/>
          <p:cNvSpPr/>
          <p:nvPr/>
        </p:nvSpPr>
        <p:spPr>
          <a:xfrm>
            <a:off x="4023360" y="3611880"/>
            <a:ext cx="1554480" cy="1051560"/>
          </a:xfrm>
          <a:prstGeom prst="roundRect">
            <a:avLst>
              <a:gd fmla="val 695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4069080" y="365760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4069080" y="3657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023360" y="402336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Clasificar Potencial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5577840" y="413308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B14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0"/>
          <p:cNvSpPr/>
          <p:nvPr/>
        </p:nvSpPr>
        <p:spPr>
          <a:xfrm>
            <a:off x="5760720" y="3611880"/>
            <a:ext cx="1554480" cy="1051560"/>
          </a:xfrm>
          <a:prstGeom prst="roundRect">
            <a:avLst>
              <a:gd fmla="val 69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5806440" y="365760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5806440" y="3657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760720" y="402336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 Description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10"/>
          <p:cNvCxnSpPr/>
          <p:nvPr/>
        </p:nvCxnSpPr>
        <p:spPr>
          <a:xfrm>
            <a:off x="7315200" y="413308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B14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0"/>
          <p:cNvSpPr/>
          <p:nvPr/>
        </p:nvSpPr>
        <p:spPr>
          <a:xfrm>
            <a:off x="7498080" y="3611880"/>
            <a:ext cx="1554480" cy="1051560"/>
          </a:xfrm>
          <a:prstGeom prst="roundRect">
            <a:avLst>
              <a:gd fmla="val 6957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7543800" y="365760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7543800" y="3657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498080" y="402336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Draft 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0" y="0"/>
            <a:ext cx="9144000" cy="4572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Columna 1 — Data Column: Query Accounts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731520" y="6400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Traemos los Accounts que necesitamos enriquecer: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731520" y="1005840"/>
            <a:ext cx="7680960" cy="1097280"/>
          </a:xfrm>
          <a:prstGeom prst="roundRect">
            <a:avLst>
              <a:gd fmla="val 6667" name="adj"/>
            </a:avLst>
          </a:prstGeom>
          <a:solidFill>
            <a:srgbClr val="1E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914400" y="100584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SELECT Id, Name, Industry, AnnualRevenue,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       NumberOfEmployees, Website, BillingCity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FROM Account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WHERE Description = null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LIMIT 500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Cada registro se convierte en una fila del Grid. Los campos quedan disponibles como @columna para las columnas siguientes.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Resultado en el Grid: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731520" y="3291840"/>
            <a:ext cx="2011680" cy="320040"/>
          </a:xfrm>
          <a:prstGeom prst="rect">
            <a:avLst/>
          </a:prstGeom>
          <a:solidFill>
            <a:srgbClr val="1B14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731520" y="32918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2743200" y="3291840"/>
            <a:ext cx="1463040" cy="320040"/>
          </a:xfrm>
          <a:prstGeom prst="rect">
            <a:avLst/>
          </a:prstGeom>
          <a:solidFill>
            <a:srgbClr val="1B14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2743200" y="32918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Industry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4206240" y="3291840"/>
            <a:ext cx="1280160" cy="320040"/>
          </a:xfrm>
          <a:prstGeom prst="rect">
            <a:avLst/>
          </a:prstGeom>
          <a:solidFill>
            <a:srgbClr val="1B14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4206240" y="32918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486400" y="3291840"/>
            <a:ext cx="1097280" cy="320040"/>
          </a:xfrm>
          <a:prstGeom prst="rect">
            <a:avLst/>
          </a:prstGeom>
          <a:solidFill>
            <a:srgbClr val="1B14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5486400" y="329184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6583680" y="3291840"/>
            <a:ext cx="1280160" cy="320040"/>
          </a:xfrm>
          <a:prstGeom prst="rect">
            <a:avLst/>
          </a:prstGeom>
          <a:solidFill>
            <a:srgbClr val="1B14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6583680" y="329184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731520" y="3611880"/>
            <a:ext cx="2011680" cy="320040"/>
          </a:xfrm>
          <a:prstGeom prst="rect">
            <a:avLst/>
          </a:prstGeom>
          <a:solidFill>
            <a:srgbClr val="F7F7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731520" y="36118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Acme Corp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2743200" y="3611880"/>
            <a:ext cx="1463040" cy="320040"/>
          </a:xfrm>
          <a:prstGeom prst="rect">
            <a:avLst/>
          </a:prstGeom>
          <a:solidFill>
            <a:srgbClr val="F7F7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2743200" y="36118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206240" y="3611880"/>
            <a:ext cx="1280160" cy="320040"/>
          </a:xfrm>
          <a:prstGeom prst="rect">
            <a:avLst/>
          </a:prstGeom>
          <a:solidFill>
            <a:srgbClr val="F7F7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4206240" y="36118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$5.2M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5486400" y="3611880"/>
            <a:ext cx="1097280" cy="320040"/>
          </a:xfrm>
          <a:prstGeom prst="rect">
            <a:avLst/>
          </a:prstGeom>
          <a:solidFill>
            <a:srgbClr val="F7F7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5486400" y="36118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583680" y="3611880"/>
            <a:ext cx="1280160" cy="320040"/>
          </a:xfrm>
          <a:prstGeom prst="rect">
            <a:avLst/>
          </a:prstGeom>
          <a:solidFill>
            <a:srgbClr val="F7F7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583680" y="36118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Buenos Aires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731520" y="3931920"/>
            <a:ext cx="201168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31520" y="39319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Global Logistics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2743200" y="3931920"/>
            <a:ext cx="146304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2743200" y="393192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206240" y="3931920"/>
            <a:ext cx="128016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206240" y="39319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$18M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486400" y="3931920"/>
            <a:ext cx="109728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5486400" y="393192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583680" y="3931920"/>
            <a:ext cx="1280160" cy="320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6583680" y="39319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São Paulo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731520" y="4251960"/>
            <a:ext cx="2011680" cy="320040"/>
          </a:xfrm>
          <a:prstGeom prst="rect">
            <a:avLst/>
          </a:prstGeom>
          <a:solidFill>
            <a:srgbClr val="F7F7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731520" y="42519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MediCare Plus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2743200" y="4251960"/>
            <a:ext cx="1463040" cy="320040"/>
          </a:xfrm>
          <a:prstGeom prst="rect">
            <a:avLst/>
          </a:prstGeom>
          <a:solidFill>
            <a:srgbClr val="F7F7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2743200" y="42519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4206240" y="4251960"/>
            <a:ext cx="1280160" cy="320040"/>
          </a:xfrm>
          <a:prstGeom prst="rect">
            <a:avLst/>
          </a:prstGeom>
          <a:solidFill>
            <a:srgbClr val="F7F7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4206240" y="42519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$3.1M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486400" y="4251960"/>
            <a:ext cx="1097280" cy="320040"/>
          </a:xfrm>
          <a:prstGeom prst="rect">
            <a:avLst/>
          </a:prstGeom>
          <a:solidFill>
            <a:srgbClr val="F7F7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5486400" y="42519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6583680" y="4251960"/>
            <a:ext cx="1280160" cy="320040"/>
          </a:xfrm>
          <a:prstGeom prst="rect">
            <a:avLst/>
          </a:prstGeom>
          <a:solidFill>
            <a:srgbClr val="F7F7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583680" y="42519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Santiago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"/>
          <p:cNvSpPr/>
          <p:nvPr/>
        </p:nvSpPr>
        <p:spPr>
          <a:xfrm>
            <a:off x="0" y="0"/>
            <a:ext cx="9144000" cy="45720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Columna 2 — AI Column: Generar Resumen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Usamos una columna AI con un prompt inline que referencia los datos de la columna anterior: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731520" y="1097280"/>
            <a:ext cx="7680960" cy="1828800"/>
          </a:xfrm>
          <a:prstGeom prst="roundRect">
            <a:avLst>
              <a:gd fmla="val 4000" name="adj"/>
            </a:avLst>
          </a:prstGeom>
          <a:solidFill>
            <a:srgbClr val="1E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LLM Instructions: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Genera un resumen ejecutivo de 2-3 oraciones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para esta cuenta de Salesforce: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Nombre: @Name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Industria: @Industry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Revenue Anual: @AnnualRevenue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Empleados: @NumberOfEmployees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Ciudad: @BillingCity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El resumen debe ser profesional y destacar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el potencial de negocio.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@ referencia columnas anteriores — Grid las reemplaza con el valor de cada fila antes de enviar al LLM.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48640" y="3566160"/>
            <a:ext cx="8046720" cy="1097280"/>
          </a:xfrm>
          <a:prstGeom prst="roundRect">
            <a:avLst>
              <a:gd fmla="val 8333" name="adj"/>
            </a:avLst>
          </a:prstGeom>
          <a:solidFill>
            <a:srgbClr val="F3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777240" y="36576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Tipo: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2103120" y="3657600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Use AI (inline prompt)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777240" y="3886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Modelo: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2103120" y="3886200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GPT-5 / Claude / el que tengas configurado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777240" y="41148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Response Format: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2103120" y="4114800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Plain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777240" y="43434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Run Condition: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2103120" y="4343400"/>
            <a:ext cx="6217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Opcional — ej: AnnualRevenue &gt; 100000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/>
          <p:nvPr/>
        </p:nvSpPr>
        <p:spPr>
          <a:xfrm>
            <a:off x="0" y="0"/>
            <a:ext cx="9144000" cy="457200"/>
          </a:xfrm>
          <a:prstGeom prst="roundRect">
            <a:avLst>
              <a:gd fmla="val 1666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365760" y="45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Columna 3 — AI Column: Clasificar Potencial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Esta columna usa el output de la columna anterior para clasificar: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731520" y="1097280"/>
            <a:ext cx="7680960" cy="1280160"/>
          </a:xfrm>
          <a:prstGeom prst="roundRect">
            <a:avLst>
              <a:gd fmla="val 5714" name="adj"/>
            </a:avLst>
          </a:prstGeom>
          <a:solidFill>
            <a:srgbClr val="1E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Basándote en este resumen de cuenta: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@Summary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Clasificá el potencial de negocio en una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de estas categorías: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- HIGH (revenue &gt; $5M, industria creciente)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- MEDIUM (revenue $1M-$5M)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- LOW (revenue &lt; $1M o industria declinante)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Responde SOLO con: HIGH, MEDIUM, o 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Esto es compounding: la columna 3 usa el output de la columna 2 (@Summary) como input.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731520" y="3474720"/>
            <a:ext cx="3657600" cy="347472"/>
          </a:xfrm>
          <a:prstGeom prst="roundRect">
            <a:avLst>
              <a:gd fmla="val 15789" name="adj"/>
            </a:avLst>
          </a:prstGeom>
          <a:solidFill>
            <a:srgbClr val="F7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914400" y="34747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Acme Corp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3017520" y="3520440"/>
            <a:ext cx="1097280" cy="256032"/>
          </a:xfrm>
          <a:prstGeom prst="roundRect">
            <a:avLst>
              <a:gd fmla="val 4285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3017520" y="35204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731520" y="3886200"/>
            <a:ext cx="3657600" cy="347472"/>
          </a:xfrm>
          <a:prstGeom prst="roundRect">
            <a:avLst>
              <a:gd fmla="val 15789" name="adj"/>
            </a:avLst>
          </a:prstGeom>
          <a:solidFill>
            <a:srgbClr val="F7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914400" y="38862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Global Logistics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3017520" y="3931920"/>
            <a:ext cx="1097280" cy="256032"/>
          </a:xfrm>
          <a:prstGeom prst="roundRect">
            <a:avLst>
              <a:gd fmla="val 4285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3017520" y="39319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731520" y="4297680"/>
            <a:ext cx="3657600" cy="347472"/>
          </a:xfrm>
          <a:prstGeom prst="roundRect">
            <a:avLst>
              <a:gd fmla="val 15789" name="adj"/>
            </a:avLst>
          </a:prstGeom>
          <a:solidFill>
            <a:srgbClr val="F7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914400" y="42976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MediCare Plus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3017520" y="4343400"/>
            <a:ext cx="1097280" cy="256032"/>
          </a:xfrm>
          <a:prstGeom prst="roundRect">
            <a:avLst>
              <a:gd fmla="val 42857" name="adj"/>
            </a:avLst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3017520" y="434340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/>
          <p:nvPr/>
        </p:nvSpPr>
        <p:spPr>
          <a:xfrm>
            <a:off x="0" y="0"/>
            <a:ext cx="4572000" cy="457200"/>
          </a:xfrm>
          <a:prstGeom prst="roundRect">
            <a:avLst>
              <a:gd fmla="val 1666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365760" y="457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Columna 4 — Update Record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4572000" y="0"/>
            <a:ext cx="4572000" cy="4572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4846320" y="457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Columna 5 — AI: Draft Email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548640" y="640080"/>
            <a:ext cx="3931920" cy="3474720"/>
          </a:xfrm>
          <a:prstGeom prst="roundRect">
            <a:avLst>
              <a:gd fmla="val 2632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731520" y="7315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Escribir el resumen de vuelta al CRM: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731520" y="1143000"/>
            <a:ext cx="3566160" cy="1463040"/>
          </a:xfrm>
          <a:prstGeom prst="roundRect">
            <a:avLst>
              <a:gd fmla="val 3750" name="adj"/>
            </a:avLst>
          </a:prstGeom>
          <a:solidFill>
            <a:srgbClr val="1E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914400" y="1143000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Tipo: Update Record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Objeto: Account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Record ID: @Id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Campos a actualizar: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  Description = @Summary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F6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B9F6CA"/>
                </a:solidFill>
                <a:latin typeface="Courier New"/>
                <a:ea typeface="Courier New"/>
                <a:cs typeface="Courier New"/>
                <a:sym typeface="Courier New"/>
              </a:rPr>
              <a:t>  Rating = @Classification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731520" y="274320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Sin código, sin Flow, sin Data Loader. Un click y los 500 registros se actualizan.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474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4"/>
          <p:cNvSpPr/>
          <p:nvPr/>
        </p:nvSpPr>
        <p:spPr>
          <a:xfrm>
            <a:off x="1143000" y="3474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No consume Flex Credits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4663440" y="640080"/>
            <a:ext cx="3931920" cy="3474720"/>
          </a:xfrm>
          <a:prstGeom prst="roundRect">
            <a:avLst>
              <a:gd fmla="val 2632" name="adj"/>
            </a:avLst>
          </a:prstGeom>
          <a:solidFill>
            <a:srgbClr val="F3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4846320" y="7315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Bonus: generar outreach email: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4846320" y="1143000"/>
            <a:ext cx="3566160" cy="1645920"/>
          </a:xfrm>
          <a:prstGeom prst="roundRect">
            <a:avLst>
              <a:gd fmla="val 3333" name="adj"/>
            </a:avLst>
          </a:prstGeom>
          <a:solidFill>
            <a:srgbClr val="1E1B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5029200" y="114300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Tipo: Use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Run condition: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  @Classification = "HIGH"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Prompt: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Redactá un email corto 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prospecting para @Name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basándote en este resumen: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@Summary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Tono: profesional, directo.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846320" y="292608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Solo corre en Accounts clasificadas como HIGH — Run Condition en acción.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1" name="Google Shape;3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3474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4"/>
          <p:cNvSpPr/>
          <p:nvPr/>
        </p:nvSpPr>
        <p:spPr>
          <a:xfrm>
            <a:off x="5257800" y="34747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Consume Flex Credits (solo filas HIGH)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Más casos de uso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548640" y="1097280"/>
            <a:ext cx="3931920" cy="914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0" name="Google Shape;3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5"/>
          <p:cNvSpPr/>
          <p:nvPr/>
        </p:nvSpPr>
        <p:spPr>
          <a:xfrm>
            <a:off x="1234440" y="11430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Case Categorization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1234440" y="148132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Importar cases → AI analiza → segunda AI categoriza por tema y prioridad → update masivo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4754880" y="1097280"/>
            <a:ext cx="39319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5"/>
          <p:cNvSpPr/>
          <p:nvPr/>
        </p:nvSpPr>
        <p:spPr>
          <a:xfrm>
            <a:off x="5440680" y="11430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Transcript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5440680" y="148132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Analizar transcripts de agentes para detectar temas, sentiment, y oportunidades de mejora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548640" y="2194560"/>
            <a:ext cx="3931920" cy="914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2331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5"/>
          <p:cNvSpPr/>
          <p:nvPr/>
        </p:nvSpPr>
        <p:spPr>
          <a:xfrm>
            <a:off x="1234440" y="22402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Lead Scoring &amp; Routing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1234440" y="257860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Traer leads → AI score por fit → clasificar → actualizar campos para routing automático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4754880" y="2194560"/>
            <a:ext cx="39319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2331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5"/>
          <p:cNvSpPr/>
          <p:nvPr/>
        </p:nvSpPr>
        <p:spPr>
          <a:xfrm>
            <a:off x="5440680" y="22402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Outreach personalizado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5440680" y="257860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Accounts + datos de Data Cloud → generar emails 1:1 basados en el perfil del account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548640" y="3291840"/>
            <a:ext cx="3931920" cy="914400"/>
          </a:xfrm>
          <a:prstGeom prst="roundRect">
            <a:avLst>
              <a:gd fmla="val 8000" name="adj"/>
            </a:avLst>
          </a:prstGeom>
          <a:solidFill>
            <a:srgbClr val="F7F7FB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" y="3429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5"/>
          <p:cNvSpPr/>
          <p:nvPr/>
        </p:nvSpPr>
        <p:spPr>
          <a:xfrm>
            <a:off x="1234440" y="33375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Knowledge 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1234440" y="367588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Importar transcripts de soporte → AI genera FAQ articles → review → publicar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4754880" y="3291840"/>
            <a:ext cx="39319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37760" y="3429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5"/>
          <p:cNvSpPr/>
          <p:nvPr/>
        </p:nvSpPr>
        <p:spPr>
          <a:xfrm>
            <a:off x="5440680" y="33375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Data Enrichment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5440680" y="367588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Cuentas sin datos → AI completa industry, description, y classification en batch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548640" y="1097280"/>
            <a:ext cx="2560320" cy="1188720"/>
          </a:xfrm>
          <a:prstGeom prst="roundRect">
            <a:avLst>
              <a:gd fmla="val 7692" name="adj"/>
            </a:avLst>
          </a:prstGeom>
          <a:solidFill>
            <a:srgbClr val="F0FD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6"/>
          <p:cNvSpPr/>
          <p:nvPr/>
        </p:nvSpPr>
        <p:spPr>
          <a:xfrm>
            <a:off x="685800" y="18288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Grid = spreadsheet + IA + CRM nativo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3383280" y="1097280"/>
            <a:ext cx="2560320" cy="1188720"/>
          </a:xfrm>
          <a:prstGeom prst="roundRect">
            <a:avLst>
              <a:gd fmla="val 7692" name="adj"/>
            </a:avLst>
          </a:prstGeom>
          <a:solidFill>
            <a:srgbClr val="F0FD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6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6"/>
          <p:cNvSpPr/>
          <p:nvPr/>
        </p:nvSpPr>
        <p:spPr>
          <a:xfrm>
            <a:off x="3520440" y="18288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Columnas compounding: dato → insight → acción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6217920" y="1097280"/>
            <a:ext cx="2560320" cy="1188720"/>
          </a:xfrm>
          <a:prstGeom prst="roundRect">
            <a:avLst>
              <a:gd fmla="val 7692" name="adj"/>
            </a:avLst>
          </a:prstGeom>
          <a:solidFill>
            <a:srgbClr val="F0FD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1234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6"/>
          <p:cNvSpPr/>
          <p:nvPr/>
        </p:nvSpPr>
        <p:spPr>
          <a:xfrm>
            <a:off x="6355080" y="18288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Batch execution sobre cientos de registros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548640" y="2560320"/>
            <a:ext cx="2560320" cy="1188720"/>
          </a:xfrm>
          <a:prstGeom prst="roundRect">
            <a:avLst>
              <a:gd fmla="val 7692" name="adj"/>
            </a:avLst>
          </a:prstGeom>
          <a:solidFill>
            <a:srgbClr val="F0FD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26974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6"/>
          <p:cNvSpPr/>
          <p:nvPr/>
        </p:nvSpPr>
        <p:spPr>
          <a:xfrm>
            <a:off x="68580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Run Conditions para controlar costos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3383280" y="2560320"/>
            <a:ext cx="2560320" cy="1188720"/>
          </a:xfrm>
          <a:prstGeom prst="roundRect">
            <a:avLst>
              <a:gd fmla="val 7692" name="adj"/>
            </a:avLst>
          </a:prstGeom>
          <a:solidFill>
            <a:srgbClr val="F0FD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60" y="26974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6"/>
          <p:cNvSpPr/>
          <p:nvPr/>
        </p:nvSpPr>
        <p:spPr>
          <a:xfrm>
            <a:off x="352044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Respeta OLS/FLS del usuario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6217920" y="2560320"/>
            <a:ext cx="2560320" cy="1188720"/>
          </a:xfrm>
          <a:prstGeom prst="roundRect">
            <a:avLst>
              <a:gd fmla="val 7692" name="adj"/>
            </a:avLst>
          </a:prstGeom>
          <a:solidFill>
            <a:srgbClr val="F0FDF4"/>
          </a:solidFill>
          <a:ln>
            <a:noFill/>
          </a:ln>
          <a:effectLst>
            <a:outerShdw blurRad="101600" rotWithShape="0" algn="bl" dir="27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26974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6"/>
          <p:cNvSpPr/>
          <p:nvPr/>
        </p:nvSpPr>
        <p:spPr>
          <a:xfrm>
            <a:off x="6355080" y="32918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Visual debugging en cada celda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fmla="val 11111" name="adj"/>
            </a:avLst>
          </a:prstGeom>
          <a:solidFill>
            <a:srgbClr val="F3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777240" y="38862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46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1464"/>
                </a:solidFill>
                <a:latin typeface="Calibri"/>
                <a:ea typeface="Calibri"/>
                <a:cs typeface="Calibri"/>
                <a:sym typeface="Calibri"/>
              </a:rPr>
              <a:t>Recursos: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777240" y="420624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2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1E2F"/>
                </a:solidFill>
                <a:latin typeface="Calibri"/>
                <a:ea typeface="Calibri"/>
                <a:cs typeface="Calibri"/>
                <a:sym typeface="Calibri"/>
              </a:rPr>
              <a:t>Docu oficial: help.salesforce.com → Agentforce Grid  |  Trailhead: trailhead.salesforce.com/content/learn/modules/agentforce-grid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E2A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7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Gracias!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2286000" y="320040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Sr. Salesforce Architect — Vantegrate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linkedin.com/in/moralesesteban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457200" y="3657600"/>
            <a:ext cx="914400" cy="914400"/>
          </a:xfrm>
          <a:prstGeom prst="ellipse">
            <a:avLst/>
          </a:prstGeom>
          <a:solidFill>
            <a:srgbClr val="F5A623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1B1464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